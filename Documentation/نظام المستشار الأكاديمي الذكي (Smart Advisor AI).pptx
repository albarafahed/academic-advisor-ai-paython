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1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468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png"/><Relationship Id="rId21" Type="http://schemas.openxmlformats.org/officeDocument/2006/relationships/image" Target="../media/image53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19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26" Type="http://schemas.openxmlformats.org/officeDocument/2006/relationships/image" Target="../media/image106.png"/><Relationship Id="rId3" Type="http://schemas.openxmlformats.org/officeDocument/2006/relationships/image" Target="../media/image19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5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24" Type="http://schemas.openxmlformats.org/officeDocument/2006/relationships/image" Target="../media/image105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23" Type="http://schemas.openxmlformats.org/officeDocument/2006/relationships/image" Target="../media/image104.png"/><Relationship Id="rId28" Type="http://schemas.openxmlformats.org/officeDocument/2006/relationships/image" Target="../media/image108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8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Relationship Id="rId27" Type="http://schemas.openxmlformats.org/officeDocument/2006/relationships/image" Target="../media/image10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6.png"/><Relationship Id="rId3" Type="http://schemas.openxmlformats.org/officeDocument/2006/relationships/image" Target="../media/image19.png"/><Relationship Id="rId7" Type="http://schemas.openxmlformats.org/officeDocument/2006/relationships/image" Target="../media/image111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0" Type="http://schemas.openxmlformats.org/officeDocument/2006/relationships/image" Target="../media/image114.png"/><Relationship Id="rId4" Type="http://schemas.openxmlformats.org/officeDocument/2006/relationships/image" Target="../media/image8.png"/><Relationship Id="rId9" Type="http://schemas.openxmlformats.org/officeDocument/2006/relationships/image" Target="../media/image113.png"/><Relationship Id="rId14" Type="http://schemas.openxmlformats.org/officeDocument/2006/relationships/image" Target="../media/image1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18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4" Type="http://schemas.openxmlformats.org/officeDocument/2006/relationships/image" Target="../media/image73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0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151.png"/><Relationship Id="rId3" Type="http://schemas.openxmlformats.org/officeDocument/2006/relationships/image" Target="../media/image142.png"/><Relationship Id="rId7" Type="http://schemas.openxmlformats.org/officeDocument/2006/relationships/image" Target="../media/image145.png"/><Relationship Id="rId12" Type="http://schemas.openxmlformats.org/officeDocument/2006/relationships/image" Target="../media/image15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5" Type="http://schemas.openxmlformats.org/officeDocument/2006/relationships/image" Target="../media/image143.png"/><Relationship Id="rId15" Type="http://schemas.openxmlformats.org/officeDocument/2006/relationships/image" Target="../media/image153.png"/><Relationship Id="rId10" Type="http://schemas.openxmlformats.org/officeDocument/2006/relationships/image" Target="../media/image148.png"/><Relationship Id="rId4" Type="http://schemas.openxmlformats.org/officeDocument/2006/relationships/image" Target="../media/image131.png"/><Relationship Id="rId9" Type="http://schemas.openxmlformats.org/officeDocument/2006/relationships/image" Target="../media/image147.png"/><Relationship Id="rId14" Type="http://schemas.openxmlformats.org/officeDocument/2006/relationships/image" Target="../media/image15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3.png"/><Relationship Id="rId3" Type="http://schemas.openxmlformats.org/officeDocument/2006/relationships/image" Target="../media/image142.pn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5" Type="http://schemas.openxmlformats.org/officeDocument/2006/relationships/image" Target="../media/image165.png"/><Relationship Id="rId10" Type="http://schemas.openxmlformats.org/officeDocument/2006/relationships/image" Target="../media/image160.png"/><Relationship Id="rId4" Type="http://schemas.openxmlformats.org/officeDocument/2006/relationships/image" Target="../media/image131.png"/><Relationship Id="rId9" Type="http://schemas.openxmlformats.org/officeDocument/2006/relationships/image" Target="../media/image159.png"/><Relationship Id="rId14" Type="http://schemas.openxmlformats.org/officeDocument/2006/relationships/image" Target="../media/image1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740" y="609600"/>
            <a:ext cx="2918520" cy="381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4505325"/>
            <a:ext cx="7315200" cy="1047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753100"/>
            <a:ext cx="10363200" cy="495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304800"/>
            <a:ext cx="1219200" cy="1219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5334000"/>
            <a:ext cx="1219200" cy="12192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4283482" y="733425"/>
            <a:ext cx="2953583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kern="0" spc="84" dirty="0">
                <a:solidFill>
                  <a:srgbClr val="10B98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مشروع تخرج | GRADUATION PROJECT</a:t>
            </a:r>
            <a:endParaRPr lang="en-US" sz="1050" dirty="0"/>
          </a:p>
        </p:txBody>
      </p:sp>
      <p:sp>
        <p:nvSpPr>
          <p:cNvPr id="9" name="Text 1"/>
          <p:cNvSpPr/>
          <p:nvPr/>
        </p:nvSpPr>
        <p:spPr>
          <a:xfrm>
            <a:off x="2814638" y="1419225"/>
            <a:ext cx="6562725" cy="2057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9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المستشار الأكاديمي الذكي</a:t>
            </a:r>
            <a:endParaRPr lang="en-US" sz="7200" dirty="0"/>
          </a:p>
        </p:txBody>
      </p:sp>
      <p:sp>
        <p:nvSpPr>
          <p:cNvPr id="10" name="Text 2"/>
          <p:cNvSpPr/>
          <p:nvPr/>
        </p:nvSpPr>
        <p:spPr>
          <a:xfrm>
            <a:off x="2990850" y="2562225"/>
            <a:ext cx="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9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
</a:t>
            </a:r>
            <a:endParaRPr lang="en-US" sz="7200" dirty="0"/>
          </a:p>
        </p:txBody>
      </p:sp>
      <p:sp>
        <p:nvSpPr>
          <p:cNvPr id="11" name="Text 3"/>
          <p:cNvSpPr/>
          <p:nvPr/>
        </p:nvSpPr>
        <p:spPr>
          <a:xfrm>
            <a:off x="1676400" y="3743325"/>
            <a:ext cx="883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0B98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Smart Advisor AI</a:t>
            </a:r>
            <a:endParaRPr lang="en-US" sz="3600" dirty="0"/>
          </a:p>
        </p:txBody>
      </p:sp>
      <p:sp>
        <p:nvSpPr>
          <p:cNvPr id="12" name="Text 4"/>
          <p:cNvSpPr/>
          <p:nvPr/>
        </p:nvSpPr>
        <p:spPr>
          <a:xfrm>
            <a:off x="2438400" y="4505325"/>
            <a:ext cx="73152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925"/>
              </a:lnSpc>
              <a:buNone/>
            </a:pPr>
            <a:r>
              <a:rPr lang="en-US" sz="180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الذكاء الاصطناعي للتنبؤ بالأداء البرمجي وتوجيه الطلاب نحو مسارات النجاح الأكاديمي.</a:t>
            </a:r>
            <a:endParaRPr lang="en-US" sz="1800" dirty="0"/>
          </a:p>
        </p:txBody>
      </p:sp>
      <p:sp>
        <p:nvSpPr>
          <p:cNvPr id="13" name="Text 5"/>
          <p:cNvSpPr/>
          <p:nvPr/>
        </p:nvSpPr>
        <p:spPr>
          <a:xfrm>
            <a:off x="10109835" y="5753100"/>
            <a:ext cx="8343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إعداد الطالب</a:t>
            </a:r>
            <a:endParaRPr lang="en-US" sz="1050" dirty="0"/>
          </a:p>
        </p:txBody>
      </p:sp>
      <p:sp>
        <p:nvSpPr>
          <p:cNvPr id="14" name="Text 6"/>
          <p:cNvSpPr/>
          <p:nvPr/>
        </p:nvSpPr>
        <p:spPr>
          <a:xfrm>
            <a:off x="9363075" y="6019800"/>
            <a:ext cx="1543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[</a:t>
            </a:r>
            <a:r>
              <a:rPr lang="en-US" sz="1500" b="1" dirty="0" err="1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Albara</a:t>
            </a: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FAhed</a:t>
            </a: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]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914400" y="5753100"/>
            <a:ext cx="15430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Supervised by</a:t>
            </a:r>
            <a:endParaRPr lang="en-US" sz="1050" dirty="0"/>
          </a:p>
        </p:txBody>
      </p:sp>
      <p:sp>
        <p:nvSpPr>
          <p:cNvPr id="16" name="Text 8"/>
          <p:cNvSpPr/>
          <p:nvPr/>
        </p:nvSpPr>
        <p:spPr>
          <a:xfrm>
            <a:off x="914400" y="6019800"/>
            <a:ext cx="19002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</a:rPr>
              <a:t>[Mohammed  </a:t>
            </a:r>
            <a:r>
              <a:rPr lang="en-US" sz="1500" b="1" dirty="0" err="1">
                <a:solidFill>
                  <a:srgbClr val="FFFFFF"/>
                </a:solidFill>
                <a:latin typeface="Tajawal" pitchFamily="34" charset="0"/>
                <a:ea typeface="Tajawal" pitchFamily="34" charset="-122"/>
              </a:rPr>
              <a:t>Alwesabi</a:t>
            </a: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</a:rPr>
              <a:t>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71500"/>
            <a:ext cx="10668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219325"/>
            <a:ext cx="5143500" cy="32956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050" y="2600325"/>
            <a:ext cx="914400" cy="914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2867025"/>
            <a:ext cx="3429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033588"/>
            <a:ext cx="5143500" cy="36671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6550" y="2414588"/>
            <a:ext cx="914400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5163" y="2681288"/>
            <a:ext cx="25717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5715000"/>
            <a:ext cx="106680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15700" y="6096000"/>
            <a:ext cx="114300" cy="114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87100" y="6096000"/>
            <a:ext cx="114300" cy="114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58500" y="6096000"/>
            <a:ext cx="114300" cy="1143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495300" y="571500"/>
            <a:ext cx="10439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مقدمة عن المشروع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-1383030" y="1104900"/>
            <a:ext cx="12527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الهدف والرؤية لبناء أداة ذكية للتقييم الاستباقي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8372475" y="3819525"/>
            <a:ext cx="9715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الهدف</a:t>
            </a:r>
            <a:endParaRPr lang="en-US" sz="2250" dirty="0"/>
          </a:p>
        </p:txBody>
      </p:sp>
      <p:sp>
        <p:nvSpPr>
          <p:cNvPr id="17" name="Text 3"/>
          <p:cNvSpPr/>
          <p:nvPr/>
        </p:nvSpPr>
        <p:spPr>
          <a:xfrm>
            <a:off x="6667500" y="4391025"/>
            <a:ext cx="438150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925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بناء أداة ذكية تساعد المؤسسات التعليمية في اكتشاف قدرات الطلاب البرمجية </a:t>
            </a:r>
            <a:r>
              <a:rPr lang="en-US" sz="2250" b="1" dirty="0">
                <a:solidFill>
                  <a:srgbClr val="2563E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مبكراً</a:t>
            </a:r>
            <a:r>
              <a:rPr lang="en-US" sz="18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Text 4"/>
          <p:cNvSpPr/>
          <p:nvPr/>
        </p:nvSpPr>
        <p:spPr>
          <a:xfrm>
            <a:off x="2905125" y="3633788"/>
            <a:ext cx="8572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الرؤية</a:t>
            </a:r>
            <a:endParaRPr lang="en-US" sz="2250" dirty="0"/>
          </a:p>
        </p:txBody>
      </p:sp>
      <p:sp>
        <p:nvSpPr>
          <p:cNvPr id="19" name="Text 5"/>
          <p:cNvSpPr/>
          <p:nvPr/>
        </p:nvSpPr>
        <p:spPr>
          <a:xfrm>
            <a:off x="1143000" y="4205288"/>
            <a:ext cx="4381500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925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الانتقال من التقييم التقليدي إلى </a:t>
            </a:r>
            <a:r>
              <a:rPr lang="en-US" sz="2250" b="1" dirty="0">
                <a:solidFill>
                  <a:srgbClr val="0596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التقييم الاستباقي</a:t>
            </a:r>
            <a:r>
              <a:rPr lang="en-US" sz="18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القائم على البيانات (Data-Driven Decisions).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-26670" y="6019800"/>
            <a:ext cx="4389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المستشار الأكاديمي الذكي (Smart Advisor AI)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76250"/>
            <a:ext cx="10668000" cy="914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66750"/>
            <a:ext cx="342900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619250"/>
            <a:ext cx="5143500" cy="438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1800" y="1924050"/>
            <a:ext cx="53340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5625" y="201930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2325" y="2667000"/>
            <a:ext cx="1428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2325" y="3562350"/>
            <a:ext cx="14287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1619250"/>
            <a:ext cx="5143500" cy="438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7300" y="1924050"/>
            <a:ext cx="53340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1125" y="20193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71850" y="3133725"/>
            <a:ext cx="222885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95900" y="3248025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800" y="3133725"/>
            <a:ext cx="2228850" cy="952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90850" y="3248025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800" y="4238625"/>
            <a:ext cx="4533900" cy="495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95900" y="4352925"/>
            <a:ext cx="190500" cy="1905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7446645" y="476250"/>
            <a:ext cx="38404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المشكلة والحل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7532370" y="971550"/>
            <a:ext cx="3840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تحديد التحديات وتقديم البديل التقني الذكي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9027795" y="2019300"/>
            <a:ext cx="1325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المشكلة</a:t>
            </a:r>
            <a:endParaRPr lang="en-US" sz="2250" dirty="0"/>
          </a:p>
        </p:txBody>
      </p:sp>
      <p:sp>
        <p:nvSpPr>
          <p:cNvPr id="22" name="Text 3"/>
          <p:cNvSpPr/>
          <p:nvPr/>
        </p:nvSpPr>
        <p:spPr>
          <a:xfrm>
            <a:off x="6591300" y="2609850"/>
            <a:ext cx="4238625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925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تحديد </a:t>
            </a: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العوامل الحقيقية</a:t>
            </a:r>
            <a:r>
              <a:rPr lang="en-US" sz="18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المؤثرة على نجاح الطالب.</a:t>
            </a:r>
            <a:endParaRPr lang="en-US" sz="1800" dirty="0"/>
          </a:p>
        </p:txBody>
      </p:sp>
      <p:sp>
        <p:nvSpPr>
          <p:cNvPr id="23" name="Text 4"/>
          <p:cNvSpPr/>
          <p:nvPr/>
        </p:nvSpPr>
        <p:spPr>
          <a:xfrm>
            <a:off x="6591300" y="3505200"/>
            <a:ext cx="4238625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925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افتقار المؤسسات للاتصال ب</a:t>
            </a: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نصائح مخصصة</a:t>
            </a:r>
            <a:r>
              <a:rPr lang="en-US" sz="18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لكل طالب.</a:t>
            </a:r>
            <a:endParaRPr lang="en-US" sz="1800" dirty="0"/>
          </a:p>
        </p:txBody>
      </p:sp>
      <p:sp>
        <p:nvSpPr>
          <p:cNvPr id="24" name="Text 5"/>
          <p:cNvSpPr/>
          <p:nvPr/>
        </p:nvSpPr>
        <p:spPr>
          <a:xfrm>
            <a:off x="3240405" y="2019300"/>
            <a:ext cx="15887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الحل الذكي</a:t>
            </a:r>
            <a:endParaRPr lang="en-US" sz="2250" dirty="0"/>
          </a:p>
        </p:txBody>
      </p:sp>
      <p:sp>
        <p:nvSpPr>
          <p:cNvPr id="25" name="Text 6"/>
          <p:cNvSpPr/>
          <p:nvPr/>
        </p:nvSpPr>
        <p:spPr>
          <a:xfrm>
            <a:off x="160020" y="2609850"/>
            <a:ext cx="544068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925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تقني متكامل يحلل البيانات:</a:t>
            </a:r>
            <a:endParaRPr lang="en-US" sz="1800" dirty="0"/>
          </a:p>
        </p:txBody>
      </p:sp>
      <p:sp>
        <p:nvSpPr>
          <p:cNvPr id="26" name="Text 7"/>
          <p:cNvSpPr/>
          <p:nvPr/>
        </p:nvSpPr>
        <p:spPr>
          <a:xfrm>
            <a:off x="3000375" y="3476625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عوامل أكاديمية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3019425" y="3705225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رياضيات، قواعد بيانات</a:t>
            </a:r>
            <a:endParaRPr lang="en-US" sz="1350" dirty="0"/>
          </a:p>
        </p:txBody>
      </p:sp>
      <p:sp>
        <p:nvSpPr>
          <p:cNvPr id="28" name="Text 9"/>
          <p:cNvSpPr/>
          <p:nvPr/>
        </p:nvSpPr>
        <p:spPr>
          <a:xfrm>
            <a:off x="695325" y="3476625"/>
            <a:ext cx="2400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عوامل سلوكية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619125" y="3705225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ساعات المذاكرة، الحضور</a:t>
            </a:r>
            <a:endParaRPr lang="en-US" sz="1350" dirty="0"/>
          </a:p>
        </p:txBody>
      </p:sp>
      <p:sp>
        <p:nvSpPr>
          <p:cNvPr id="30" name="Text 11"/>
          <p:cNvSpPr/>
          <p:nvPr/>
        </p:nvSpPr>
        <p:spPr>
          <a:xfrm>
            <a:off x="5715" y="4352925"/>
            <a:ext cx="5166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065F4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النتيجة: تنبؤ دقيق وتوصيات ذكية مخصصة.</a:t>
            </a:r>
            <a:endParaRPr lang="en-US" sz="1500" dirty="0"/>
          </a:p>
        </p:txBody>
      </p:sp>
      <p:sp>
        <p:nvSpPr>
          <p:cNvPr id="31" name="Text 12"/>
          <p:cNvSpPr/>
          <p:nvPr/>
        </p:nvSpPr>
        <p:spPr>
          <a:xfrm>
            <a:off x="4815840" y="6200775"/>
            <a:ext cx="256032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المستشار الأكاديمي الذكي © 2024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65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71500"/>
            <a:ext cx="10668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4450" y="1866900"/>
            <a:ext cx="2495550" cy="34956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1225" y="217170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9825" y="2381250"/>
            <a:ext cx="30480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3625" y="3619500"/>
            <a:ext cx="4572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866900"/>
            <a:ext cx="2495550" cy="34956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7075" y="2171700"/>
            <a:ext cx="76200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6625" y="2381250"/>
            <a:ext cx="34290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9475" y="3619500"/>
            <a:ext cx="457200" cy="38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6150" y="1866900"/>
            <a:ext cx="2495550" cy="34956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52925" y="2171700"/>
            <a:ext cx="762000" cy="762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81525" y="2381250"/>
            <a:ext cx="3048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05325" y="3619500"/>
            <a:ext cx="457200" cy="38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1866900"/>
            <a:ext cx="2495550" cy="34956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8775" y="2171700"/>
            <a:ext cx="762000" cy="762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14513" y="2381250"/>
            <a:ext cx="390525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81175" y="3619500"/>
            <a:ext cx="457200" cy="38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5819775"/>
            <a:ext cx="10668000" cy="495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09700" y="6105525"/>
            <a:ext cx="1333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4900" y="6105525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6105525"/>
            <a:ext cx="19050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09600" y="571500"/>
            <a:ext cx="10439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التقنيات المستخدمة</a:t>
            </a:r>
            <a:endParaRPr lang="en-US" sz="3600" dirty="0"/>
          </a:p>
        </p:txBody>
      </p:sp>
      <p:sp>
        <p:nvSpPr>
          <p:cNvPr id="25" name="Text 1"/>
          <p:cNvSpPr/>
          <p:nvPr/>
        </p:nvSpPr>
        <p:spPr>
          <a:xfrm>
            <a:off x="-1383030" y="1104900"/>
            <a:ext cx="12527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البنية التحتية البرمجية والأدوات الذكية (Tech Stack)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9490710" y="3162300"/>
            <a:ext cx="13830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لغة البرمجة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9827895" y="3886200"/>
            <a:ext cx="708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Python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9239250" y="4229100"/>
            <a:ext cx="18859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اللغة الأساسية لمعالجة البيانات والذكاء الاصطناعي</a:t>
            </a:r>
            <a:endParaRPr lang="en-US" sz="1350" dirty="0"/>
          </a:p>
        </p:txBody>
      </p:sp>
      <p:sp>
        <p:nvSpPr>
          <p:cNvPr id="29" name="Text 5"/>
          <p:cNvSpPr/>
          <p:nvPr/>
        </p:nvSpPr>
        <p:spPr>
          <a:xfrm>
            <a:off x="6406515" y="3162300"/>
            <a:ext cx="2103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الذكاء الاصطناعي</a:t>
            </a:r>
            <a:endParaRPr lang="en-US" sz="1800" dirty="0"/>
          </a:p>
        </p:txBody>
      </p:sp>
      <p:sp>
        <p:nvSpPr>
          <p:cNvPr id="30" name="Text 6"/>
          <p:cNvSpPr/>
          <p:nvPr/>
        </p:nvSpPr>
        <p:spPr>
          <a:xfrm>
            <a:off x="6863715" y="3886200"/>
            <a:ext cx="118872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31" name="Text 7"/>
          <p:cNvSpPr/>
          <p:nvPr/>
        </p:nvSpPr>
        <p:spPr>
          <a:xfrm>
            <a:off x="6515100" y="4200525"/>
            <a:ext cx="18859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نموذج Linear Regression للتنبؤ بالنتائج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3899535" y="3162300"/>
            <a:ext cx="1668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قواعد البيانات</a:t>
            </a:r>
            <a:endParaRPr lang="en-US" sz="1800" dirty="0"/>
          </a:p>
        </p:txBody>
      </p:sp>
      <p:sp>
        <p:nvSpPr>
          <p:cNvPr id="33" name="Text 9"/>
          <p:cNvSpPr/>
          <p:nvPr/>
        </p:nvSpPr>
        <p:spPr>
          <a:xfrm>
            <a:off x="4408170" y="3886200"/>
            <a:ext cx="6515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SQLite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3790950" y="4229100"/>
            <a:ext cx="18859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حفظ سجلات الطلاب والنتائج بشكل دائم</a:t>
            </a:r>
            <a:endParaRPr lang="en-US" sz="1350" dirty="0"/>
          </a:p>
        </p:txBody>
      </p:sp>
      <p:sp>
        <p:nvSpPr>
          <p:cNvPr id="35" name="Text 11"/>
          <p:cNvSpPr/>
          <p:nvPr/>
        </p:nvSpPr>
        <p:spPr>
          <a:xfrm>
            <a:off x="981075" y="3162300"/>
            <a:ext cx="2057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واجهة المستخدم</a:t>
            </a:r>
            <a:endParaRPr lang="en-US" sz="1800" dirty="0"/>
          </a:p>
        </p:txBody>
      </p:sp>
      <p:sp>
        <p:nvSpPr>
          <p:cNvPr id="36" name="Text 12"/>
          <p:cNvSpPr/>
          <p:nvPr/>
        </p:nvSpPr>
        <p:spPr>
          <a:xfrm>
            <a:off x="1644015" y="3886200"/>
            <a:ext cx="731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Tkinter</a:t>
            </a:r>
            <a:endParaRPr lang="en-US" sz="1500" dirty="0"/>
          </a:p>
        </p:txBody>
      </p:sp>
      <p:sp>
        <p:nvSpPr>
          <p:cNvPr id="37" name="Text 13"/>
          <p:cNvSpPr/>
          <p:nvPr/>
        </p:nvSpPr>
        <p:spPr>
          <a:xfrm>
            <a:off x="1066800" y="4229100"/>
            <a:ext cx="188595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واجهة تفاعلية سهلة الاستخدام للطلاب والمديرين</a:t>
            </a:r>
            <a:endParaRPr lang="en-US" sz="1350" dirty="0"/>
          </a:p>
        </p:txBody>
      </p:sp>
      <p:sp>
        <p:nvSpPr>
          <p:cNvPr id="38" name="Text 14"/>
          <p:cNvSpPr/>
          <p:nvPr/>
        </p:nvSpPr>
        <p:spPr>
          <a:xfrm>
            <a:off x="5457825" y="6048375"/>
            <a:ext cx="3257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Smart Advisor AI • Tech Infrastructure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71500"/>
            <a:ext cx="10668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828800"/>
            <a:ext cx="3352800" cy="3733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225" y="2133600"/>
            <a:ext cx="666750" cy="666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150" y="2276475"/>
            <a:ext cx="3429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6363" y="3448050"/>
            <a:ext cx="1514475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6363" y="4057650"/>
            <a:ext cx="1514475" cy="495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9600" y="1828800"/>
            <a:ext cx="3352800" cy="3733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2625" y="2133600"/>
            <a:ext cx="666750" cy="666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81688" y="2276475"/>
            <a:ext cx="42862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7763" y="3448050"/>
            <a:ext cx="2276475" cy="685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7763" y="4248150"/>
            <a:ext cx="2276475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1828800"/>
            <a:ext cx="3352800" cy="3733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05025" y="2133600"/>
            <a:ext cx="666750" cy="6667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24088" y="2276475"/>
            <a:ext cx="428625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3000" y="3448050"/>
            <a:ext cx="2590800" cy="495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5791200"/>
            <a:ext cx="10668000" cy="495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82038" y="596265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-1600200" y="571500"/>
            <a:ext cx="128016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مدخلات النظام (Input Features)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-1367790" y="1295400"/>
            <a:ext cx="12435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المعايير الأكاديمية والسلوكية التي يحللها النظام لضمان جودة التنبؤ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8770620" y="2990850"/>
            <a:ext cx="19659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المواد الأساسية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8844915" y="3448050"/>
            <a:ext cx="181737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درجات الرياضيات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8844915" y="4057650"/>
            <a:ext cx="181737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قواعد البيانات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5021580" y="2990850"/>
            <a:ext cx="2148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العوامل السلوكية</a:t>
            </a:r>
            <a:endParaRPr lang="en-US" sz="1800" dirty="0"/>
          </a:p>
        </p:txBody>
      </p:sp>
      <p:sp>
        <p:nvSpPr>
          <p:cNvPr id="26" name="Text 6"/>
          <p:cNvSpPr/>
          <p:nvPr/>
        </p:nvSpPr>
        <p:spPr>
          <a:xfrm>
            <a:off x="4957763" y="3448050"/>
            <a:ext cx="2276475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ساعات </a:t>
            </a:r>
            <a:r>
              <a:rPr lang="en-US" sz="1500" dirty="0" err="1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المذاكرة</a:t>
            </a: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500" dirty="0" err="1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الأسبوع</a:t>
            </a: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050" b="1" dirty="0" err="1">
                <a:solidFill>
                  <a:srgbClr val="0478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بحد</a:t>
            </a:r>
            <a:r>
              <a:rPr lang="en-US" sz="1050" b="1" dirty="0">
                <a:solidFill>
                  <a:srgbClr val="0478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أقصى 45 </a:t>
            </a:r>
            <a:r>
              <a:rPr lang="en-US" sz="1050" b="1" dirty="0" err="1">
                <a:solidFill>
                  <a:srgbClr val="0478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ساعة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4730115" y="4248150"/>
            <a:ext cx="273177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نسبة الحضور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1392555" y="2990850"/>
            <a:ext cx="20916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الخلفية الأكاديمية</a:t>
            </a:r>
            <a:endParaRPr lang="en-US" sz="1800" dirty="0"/>
          </a:p>
        </p:txBody>
      </p:sp>
      <p:sp>
        <p:nvSpPr>
          <p:cNvPr id="29" name="Text 9"/>
          <p:cNvSpPr/>
          <p:nvPr/>
        </p:nvSpPr>
        <p:spPr>
          <a:xfrm>
            <a:off x="883920" y="3448050"/>
            <a:ext cx="310896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المعدل التراكمي السابق (GPA)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2275522" y="5905500"/>
            <a:ext cx="62064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يتم معالجة كافة هذه المدخلات عبر نموذج </a:t>
            </a:r>
            <a:r>
              <a:rPr lang="en-US" sz="135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Linear Regression</a:t>
            </a:r>
            <a:r>
              <a:rPr lang="en-US" sz="13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للتنبؤ بالنتيجة.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71500"/>
            <a:ext cx="10668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866900"/>
            <a:ext cx="3352800" cy="3390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224790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0725" y="245745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9600" y="1866900"/>
            <a:ext cx="3352800" cy="3390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2247900"/>
            <a:ext cx="7620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3125" y="2457450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1866900"/>
            <a:ext cx="3352800" cy="3390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7400" y="2247900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95525" y="245745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5562600"/>
            <a:ext cx="10668000" cy="723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49000" y="58483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6175" y="5791200"/>
            <a:ext cx="1638300" cy="2667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-1592580" y="571500"/>
            <a:ext cx="125272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منطق العمل والذكاء الاصطناعي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-1440180" y="1104900"/>
            <a:ext cx="12527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يعالج النظام البيانات ويتخذ القرارات؟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8199120" y="3238500"/>
            <a:ext cx="31089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1. التطبيع (Normalization)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8458200" y="3695700"/>
            <a:ext cx="2590800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تحويل كافة المدخلات إلى قيم معيارية تتراوح بين </a:t>
            </a:r>
            <a:r>
              <a:rPr lang="en-US" sz="1350" b="1" dirty="0">
                <a:solidFill>
                  <a:srgbClr val="0596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 و 1</a:t>
            </a:r>
            <a:r>
              <a:rPr lang="en-US" sz="135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لتتوافق مع متطلبات تدريب النموذج الرياضي.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5130165" y="3238500"/>
            <a:ext cx="19316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2. معالجة القيود</a:t>
            </a:r>
            <a:endParaRPr lang="en-US" sz="1800" dirty="0"/>
          </a:p>
        </p:txBody>
      </p:sp>
      <p:sp>
        <p:nvSpPr>
          <p:cNvPr id="21" name="Text 5"/>
          <p:cNvSpPr/>
          <p:nvPr/>
        </p:nvSpPr>
        <p:spPr>
          <a:xfrm>
            <a:off x="4800600" y="3695700"/>
            <a:ext cx="2590800" cy="9024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حماية يمنع البيانات غير المنطقية:
</a:t>
            </a:r>
            <a:r>
              <a:rPr lang="en-US" sz="1050" b="1" dirty="0">
                <a:solidFill>
                  <a:srgbClr val="475569"/>
                </a:solidFill>
                <a:highlight>
                  <a:srgbClr val="F1F5F9"/>
                </a:highlight>
                <a:latin typeface="Tajawal" pitchFamily="34" charset="0"/>
                <a:ea typeface="Tajawal" pitchFamily="34" charset="-122"/>
                <a:cs typeface="Tajawal" pitchFamily="34" charset="-120"/>
              </a:rPr>
              <a:t>الدرجات ≤ 100</a:t>
            </a:r>
            <a:r>
              <a:rPr lang="en-US" sz="135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</a:t>
            </a:r>
            <a:r>
              <a:rPr lang="en-US" sz="1050" b="1" dirty="0">
                <a:solidFill>
                  <a:srgbClr val="475569"/>
                </a:solidFill>
                <a:highlight>
                  <a:srgbClr val="F1F5F9"/>
                </a:highlight>
                <a:latin typeface="Tajawal" pitchFamily="34" charset="0"/>
                <a:ea typeface="Tajawal" pitchFamily="34" charset="-122"/>
                <a:cs typeface="Tajawal" pitchFamily="34" charset="-120"/>
              </a:rPr>
              <a:t>الساعات ≤ 45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1621155" y="3238500"/>
            <a:ext cx="16344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3. التنبؤ الذكي</a:t>
            </a:r>
            <a:endParaRPr lang="en-US" sz="1800" dirty="0"/>
          </a:p>
        </p:txBody>
      </p:sp>
      <p:sp>
        <p:nvSpPr>
          <p:cNvPr id="23" name="Text 7"/>
          <p:cNvSpPr/>
          <p:nvPr/>
        </p:nvSpPr>
        <p:spPr>
          <a:xfrm>
            <a:off x="1143000" y="3695700"/>
            <a:ext cx="2590800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حساب الدرجة المتوقعة بناءً على </a:t>
            </a:r>
            <a:r>
              <a:rPr lang="en-US" sz="1350" b="1" dirty="0">
                <a:solidFill>
                  <a:srgbClr val="9333E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الأوزان (Weights)</a:t>
            </a:r>
            <a:r>
              <a:rPr lang="en-US" sz="135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التي تعلمها النموذج أثناء مرحلة التدريب.</a:t>
            </a:r>
            <a:endParaRPr lang="en-US" sz="1350" dirty="0"/>
          </a:p>
        </p:txBody>
      </p:sp>
      <p:sp>
        <p:nvSpPr>
          <p:cNvPr id="24" name="Text 8"/>
          <p:cNvSpPr/>
          <p:nvPr/>
        </p:nvSpPr>
        <p:spPr>
          <a:xfrm>
            <a:off x="8917305" y="5791200"/>
            <a:ext cx="19316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الخوارزمية المستخدمة:</a:t>
            </a:r>
            <a:endParaRPr lang="en-US" sz="1350" dirty="0"/>
          </a:p>
        </p:txBody>
      </p:sp>
      <p:sp>
        <p:nvSpPr>
          <p:cNvPr id="25" name="Text 9"/>
          <p:cNvSpPr/>
          <p:nvPr/>
        </p:nvSpPr>
        <p:spPr>
          <a:xfrm>
            <a:off x="5682615" y="5791200"/>
            <a:ext cx="1965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Linear Regression Model</a:t>
            </a:r>
            <a:endParaRPr lang="en-US" sz="1050" dirty="0"/>
          </a:p>
        </p:txBody>
      </p:sp>
      <p:sp>
        <p:nvSpPr>
          <p:cNvPr id="26" name="Text 10"/>
          <p:cNvSpPr/>
          <p:nvPr/>
        </p:nvSpPr>
        <p:spPr>
          <a:xfrm>
            <a:off x="249555" y="5829300"/>
            <a:ext cx="44462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عملية المعالجة تتم في أجزاء من الثانية لضمان تجربة مستخدم سلسة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8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71500"/>
            <a:ext cx="10668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019300"/>
            <a:ext cx="3352800" cy="3314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2019300"/>
            <a:ext cx="3352800" cy="914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0" y="22479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9925" y="2324100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5800" y="3162300"/>
            <a:ext cx="2895600" cy="419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68050" y="3200400"/>
            <a:ext cx="13335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5800" y="3733800"/>
            <a:ext cx="2895600" cy="419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29950" y="3771900"/>
            <a:ext cx="17145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68050" y="4343400"/>
            <a:ext cx="13335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600" y="2019300"/>
            <a:ext cx="3352800" cy="3314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2019300"/>
            <a:ext cx="3352800" cy="914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22479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9475" y="2324100"/>
            <a:ext cx="1714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8200" y="3162300"/>
            <a:ext cx="2895600" cy="419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72350" y="3200400"/>
            <a:ext cx="17145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8200" y="3733800"/>
            <a:ext cx="2895600" cy="419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9025" y="3771900"/>
            <a:ext cx="104775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10450" y="4343400"/>
            <a:ext cx="133350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2019300"/>
            <a:ext cx="3352800" cy="3314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28" y="1013963"/>
            <a:ext cx="3352800" cy="914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29000" y="2247900"/>
            <a:ext cx="457200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06381" y="2322483"/>
            <a:ext cx="17145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3162300"/>
            <a:ext cx="2895600" cy="419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14750" y="3200400"/>
            <a:ext cx="171450" cy="190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3733800"/>
            <a:ext cx="2895600" cy="4191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52850" y="3771900"/>
            <a:ext cx="133350" cy="1905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752850" y="4343400"/>
            <a:ext cx="133350" cy="190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2000" y="5791200"/>
            <a:ext cx="10668000" cy="4953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96388" y="607695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10338" y="6076950"/>
            <a:ext cx="1905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19537" y="6076950"/>
            <a:ext cx="133350" cy="1524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-1621155" y="571500"/>
            <a:ext cx="125272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هيكلية قاعدة البيانات (Database Schema)</a:t>
            </a:r>
            <a:endParaRPr lang="en-US" sz="3600" dirty="0"/>
          </a:p>
        </p:txBody>
      </p:sp>
      <p:sp>
        <p:nvSpPr>
          <p:cNvPr id="36" name="Text 1"/>
          <p:cNvSpPr/>
          <p:nvPr/>
        </p:nvSpPr>
        <p:spPr>
          <a:xfrm>
            <a:off x="-1392555" y="1104900"/>
            <a:ext cx="12527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SQLite لضمان حفظ سجلات الطلاب بشكل دائم ومنظم</a:t>
            </a:r>
            <a:endParaRPr lang="en-US" sz="1800" dirty="0"/>
          </a:p>
        </p:txBody>
      </p:sp>
      <p:sp>
        <p:nvSpPr>
          <p:cNvPr id="37" name="Text 2"/>
          <p:cNvSpPr/>
          <p:nvPr/>
        </p:nvSpPr>
        <p:spPr>
          <a:xfrm>
            <a:off x="8601075" y="2247900"/>
            <a:ext cx="1085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Students</a:t>
            </a:r>
            <a:endParaRPr lang="en-US" sz="1800" dirty="0"/>
          </a:p>
        </p:txBody>
      </p:sp>
      <p:sp>
        <p:nvSpPr>
          <p:cNvPr id="38" name="Text 3"/>
          <p:cNvSpPr/>
          <p:nvPr/>
        </p:nvSpPr>
        <p:spPr>
          <a:xfrm>
            <a:off x="9730740" y="2524125"/>
            <a:ext cx="82296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بيانات الهوية</a:t>
            </a:r>
            <a:endParaRPr lang="en-US" sz="1050" dirty="0"/>
          </a:p>
        </p:txBody>
      </p:sp>
      <p:sp>
        <p:nvSpPr>
          <p:cNvPr id="39" name="Text 4"/>
          <p:cNvSpPr/>
          <p:nvPr/>
        </p:nvSpPr>
        <p:spPr>
          <a:xfrm>
            <a:off x="9566910" y="3162300"/>
            <a:ext cx="11887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المعرف (ID)</a:t>
            </a:r>
            <a:endParaRPr lang="en-US" sz="1500" dirty="0"/>
          </a:p>
        </p:txBody>
      </p:sp>
      <p:sp>
        <p:nvSpPr>
          <p:cNvPr id="40" name="Text 5"/>
          <p:cNvSpPr/>
          <p:nvPr/>
        </p:nvSpPr>
        <p:spPr>
          <a:xfrm>
            <a:off x="9488805" y="3733800"/>
            <a:ext cx="12230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الاسم الكامل</a:t>
            </a:r>
            <a:endParaRPr lang="en-US" sz="1500" dirty="0"/>
          </a:p>
        </p:txBody>
      </p:sp>
      <p:sp>
        <p:nvSpPr>
          <p:cNvPr id="41" name="Text 6"/>
          <p:cNvSpPr/>
          <p:nvPr/>
        </p:nvSpPr>
        <p:spPr>
          <a:xfrm>
            <a:off x="9286875" y="4305300"/>
            <a:ext cx="1428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البريد الإلكتروني</a:t>
            </a:r>
            <a:endParaRPr lang="en-US" sz="1500" dirty="0"/>
          </a:p>
        </p:txBody>
      </p:sp>
      <p:sp>
        <p:nvSpPr>
          <p:cNvPr id="42" name="Text 7"/>
          <p:cNvSpPr/>
          <p:nvPr/>
        </p:nvSpPr>
        <p:spPr>
          <a:xfrm>
            <a:off x="5303736" y="1800225"/>
            <a:ext cx="2217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Academic_Records</a:t>
            </a:r>
            <a:endParaRPr lang="en-US" sz="1800" dirty="0"/>
          </a:p>
        </p:txBody>
      </p:sp>
      <p:sp>
        <p:nvSpPr>
          <p:cNvPr id="43" name="Text 8"/>
          <p:cNvSpPr/>
          <p:nvPr/>
        </p:nvSpPr>
        <p:spPr>
          <a:xfrm>
            <a:off x="5909310" y="2524125"/>
            <a:ext cx="89154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سجلات الأداء</a:t>
            </a:r>
            <a:endParaRPr lang="en-US" sz="1050" dirty="0"/>
          </a:p>
        </p:txBody>
      </p:sp>
      <p:sp>
        <p:nvSpPr>
          <p:cNvPr id="44" name="Text 9"/>
          <p:cNvSpPr/>
          <p:nvPr/>
        </p:nvSpPr>
        <p:spPr>
          <a:xfrm>
            <a:off x="5417820" y="3162300"/>
            <a:ext cx="1577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الطالب (FK)</a:t>
            </a:r>
            <a:endParaRPr lang="en-US" sz="1500" dirty="0"/>
          </a:p>
        </p:txBody>
      </p:sp>
      <p:sp>
        <p:nvSpPr>
          <p:cNvPr id="45" name="Text 10"/>
          <p:cNvSpPr/>
          <p:nvPr/>
        </p:nvSpPr>
        <p:spPr>
          <a:xfrm>
            <a:off x="5604510" y="3733800"/>
            <a:ext cx="14744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الدرجات المدخلة</a:t>
            </a:r>
            <a:endParaRPr lang="en-US" sz="1500" dirty="0"/>
          </a:p>
        </p:txBody>
      </p:sp>
      <p:sp>
        <p:nvSpPr>
          <p:cNvPr id="46" name="Text 11"/>
          <p:cNvSpPr/>
          <p:nvPr/>
        </p:nvSpPr>
        <p:spPr>
          <a:xfrm>
            <a:off x="5322570" y="4305300"/>
            <a:ext cx="1691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النتيجة المتوقعة</a:t>
            </a:r>
            <a:endParaRPr lang="en-US" sz="1500" dirty="0"/>
          </a:p>
        </p:txBody>
      </p:sp>
      <p:sp>
        <p:nvSpPr>
          <p:cNvPr id="47" name="Text 12"/>
          <p:cNvSpPr/>
          <p:nvPr/>
        </p:nvSpPr>
        <p:spPr>
          <a:xfrm>
            <a:off x="537210" y="1485900"/>
            <a:ext cx="2228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48" name="Text 13"/>
          <p:cNvSpPr/>
          <p:nvPr/>
        </p:nvSpPr>
        <p:spPr>
          <a:xfrm>
            <a:off x="2034540" y="2409825"/>
            <a:ext cx="1051560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التوصيات الذكية</a:t>
            </a:r>
            <a:endParaRPr lang="en-US" sz="1050" dirty="0"/>
          </a:p>
        </p:txBody>
      </p:sp>
      <p:sp>
        <p:nvSpPr>
          <p:cNvPr id="49" name="Text 14"/>
          <p:cNvSpPr/>
          <p:nvPr/>
        </p:nvSpPr>
        <p:spPr>
          <a:xfrm>
            <a:off x="1733550" y="3162300"/>
            <a:ext cx="160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السجل (FK)</a:t>
            </a:r>
            <a:endParaRPr lang="en-US" sz="1500" dirty="0"/>
          </a:p>
        </p:txBody>
      </p:sp>
      <p:sp>
        <p:nvSpPr>
          <p:cNvPr id="50" name="Text 15"/>
          <p:cNvSpPr/>
          <p:nvPr/>
        </p:nvSpPr>
        <p:spPr>
          <a:xfrm>
            <a:off x="1651635" y="3733800"/>
            <a:ext cx="17030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التشخيص النهائي</a:t>
            </a:r>
            <a:endParaRPr lang="en-US" sz="1500" dirty="0"/>
          </a:p>
        </p:txBody>
      </p:sp>
      <p:sp>
        <p:nvSpPr>
          <p:cNvPr id="51" name="Text 16"/>
          <p:cNvSpPr/>
          <p:nvPr/>
        </p:nvSpPr>
        <p:spPr>
          <a:xfrm>
            <a:off x="1638300" y="4305300"/>
            <a:ext cx="1714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النصيحة الأكاديمية</a:t>
            </a:r>
            <a:endParaRPr lang="en-US" sz="1500" dirty="0"/>
          </a:p>
        </p:txBody>
      </p:sp>
      <p:sp>
        <p:nvSpPr>
          <p:cNvPr id="52" name="Text 17"/>
          <p:cNvSpPr/>
          <p:nvPr/>
        </p:nvSpPr>
        <p:spPr>
          <a:xfrm>
            <a:off x="6670358" y="6019800"/>
            <a:ext cx="23545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مفتاح أساسي (Primary Key)</a:t>
            </a:r>
            <a:endParaRPr lang="en-US" sz="1350" dirty="0"/>
          </a:p>
        </p:txBody>
      </p:sp>
      <p:sp>
        <p:nvSpPr>
          <p:cNvPr id="53" name="Text 18"/>
          <p:cNvSpPr/>
          <p:nvPr/>
        </p:nvSpPr>
        <p:spPr>
          <a:xfrm>
            <a:off x="4030028" y="6019800"/>
            <a:ext cx="2308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علاقة ترابطية (Foreign Key)</a:t>
            </a:r>
            <a:endParaRPr lang="en-US" sz="1350" dirty="0"/>
          </a:p>
        </p:txBody>
      </p:sp>
      <p:sp>
        <p:nvSpPr>
          <p:cNvPr id="54" name="Text 19"/>
          <p:cNvSpPr/>
          <p:nvPr/>
        </p:nvSpPr>
        <p:spPr>
          <a:xfrm>
            <a:off x="1643063" y="6019800"/>
            <a:ext cx="1200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SQLite Engine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71500"/>
            <a:ext cx="10668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866900"/>
            <a:ext cx="3352800" cy="3467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9400" y="22479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1325" y="238125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9600" y="1866900"/>
            <a:ext cx="3352800" cy="3467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1800" y="22479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1866900"/>
            <a:ext cx="3352800" cy="3467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4200" y="224790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5791200"/>
            <a:ext cx="10668000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58450" y="6019800"/>
            <a:ext cx="9715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39200" y="6019800"/>
            <a:ext cx="1466850" cy="2667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-1602105" y="571500"/>
            <a:ext cx="125272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مميزات واجهة المستخدم (GUI)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-1392555" y="1104900"/>
            <a:ext cx="12527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تصميم يركز على تجربة المستخدم ودقة البيانات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7873365" y="3086100"/>
            <a:ext cx="31089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u="sng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الإرشاد الذكي</a:t>
            </a:r>
            <a:endParaRPr lang="en-US" sz="1800" dirty="0"/>
          </a:p>
        </p:txBody>
      </p:sp>
      <p:sp>
        <p:nvSpPr>
          <p:cNvPr id="17" name="Text 3"/>
          <p:cNvSpPr/>
          <p:nvPr/>
        </p:nvSpPr>
        <p:spPr>
          <a:xfrm>
            <a:off x="8458200" y="3543300"/>
            <a:ext cx="2590800" cy="1238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توفير ملصقات (Labels) توضيحية بجانب كل حقل إدخال لبيان النطاق المسموح به (مثل الدرجات من 0-100).</a:t>
            </a:r>
            <a:endParaRPr lang="en-US" sz="1500" dirty="0"/>
          </a:p>
        </p:txBody>
      </p:sp>
      <p:sp>
        <p:nvSpPr>
          <p:cNvPr id="18" name="Text 4"/>
          <p:cNvSpPr/>
          <p:nvPr/>
        </p:nvSpPr>
        <p:spPr>
          <a:xfrm>
            <a:off x="4215765" y="3086100"/>
            <a:ext cx="31089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u="sng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التحقق الفوري</a:t>
            </a:r>
            <a:endParaRPr lang="en-US" sz="1800" dirty="0"/>
          </a:p>
        </p:txBody>
      </p:sp>
      <p:sp>
        <p:nvSpPr>
          <p:cNvPr id="19" name="Text 5"/>
          <p:cNvSpPr/>
          <p:nvPr/>
        </p:nvSpPr>
        <p:spPr>
          <a:xfrm>
            <a:off x="4800600" y="3543300"/>
            <a:ext cx="2590800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حماية يمنع إدخال الحروف في خانات الأرقام ويتحقق من منطقية البيانات المدخلة لحظياً.</a:t>
            </a:r>
            <a:endParaRPr lang="en-US" sz="1500" dirty="0"/>
          </a:p>
        </p:txBody>
      </p:sp>
      <p:sp>
        <p:nvSpPr>
          <p:cNvPr id="20" name="Text 6"/>
          <p:cNvSpPr/>
          <p:nvPr/>
        </p:nvSpPr>
        <p:spPr>
          <a:xfrm>
            <a:off x="558165" y="3086100"/>
            <a:ext cx="31089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b="1" u="sng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التقارير والتشخيص</a:t>
            </a:r>
            <a:endParaRPr lang="en-US" sz="1800" dirty="0"/>
          </a:p>
        </p:txBody>
      </p:sp>
      <p:sp>
        <p:nvSpPr>
          <p:cNvPr id="21" name="Text 7"/>
          <p:cNvSpPr/>
          <p:nvPr/>
        </p:nvSpPr>
        <p:spPr>
          <a:xfrm>
            <a:off x="1143000" y="3543300"/>
            <a:ext cx="2590800" cy="928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عرض تشخيص فوري </a:t>
            </a:r>
            <a:r>
              <a:rPr lang="en-US" sz="1500" b="1" dirty="0">
                <a:solidFill>
                  <a:srgbClr val="0478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🔍</a:t>
            </a: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ونصائح أكاديمية مخصصة </a:t>
            </a:r>
            <a:r>
              <a:rPr lang="en-US" sz="1500" b="1" dirty="0">
                <a:solidFill>
                  <a:srgbClr val="04785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💡</a:t>
            </a: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بناءً على تحليل أداء الطالب.</a:t>
            </a:r>
            <a:endParaRPr lang="en-US" sz="1500" dirty="0"/>
          </a:p>
        </p:txBody>
      </p:sp>
      <p:sp>
        <p:nvSpPr>
          <p:cNvPr id="22" name="Text 8"/>
          <p:cNvSpPr/>
          <p:nvPr/>
        </p:nvSpPr>
        <p:spPr>
          <a:xfrm>
            <a:off x="9444990" y="6019800"/>
            <a:ext cx="1165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Tkinter GUI</a:t>
            </a:r>
            <a:endParaRPr lang="en-US" sz="1050" dirty="0"/>
          </a:p>
        </p:txBody>
      </p:sp>
      <p:sp>
        <p:nvSpPr>
          <p:cNvPr id="23" name="Text 9"/>
          <p:cNvSpPr/>
          <p:nvPr/>
        </p:nvSpPr>
        <p:spPr>
          <a:xfrm>
            <a:off x="7231380" y="6019800"/>
            <a:ext cx="1760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User Centric Design</a:t>
            </a:r>
            <a:endParaRPr lang="en-US" sz="1050" dirty="0"/>
          </a:p>
        </p:txBody>
      </p:sp>
      <p:sp>
        <p:nvSpPr>
          <p:cNvPr id="24" name="Text 10"/>
          <p:cNvSpPr/>
          <p:nvPr/>
        </p:nvSpPr>
        <p:spPr>
          <a:xfrm>
            <a:off x="66675" y="6038850"/>
            <a:ext cx="3886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المستشار الأكاديمي الذكي (Smart Advisor AI)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04850"/>
            <a:ext cx="10668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771650"/>
            <a:ext cx="5143500" cy="441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1800" y="200025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3725" y="2162175"/>
            <a:ext cx="285750" cy="285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3686175"/>
            <a:ext cx="46863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6600" y="389572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1771650"/>
            <a:ext cx="5143500" cy="441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7300" y="200025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48275" y="2162175"/>
            <a:ext cx="247650" cy="285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09950" y="3686175"/>
            <a:ext cx="2266950" cy="876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" y="3686175"/>
            <a:ext cx="2266950" cy="876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6419850"/>
            <a:ext cx="10668000" cy="419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77600" y="6629400"/>
            <a:ext cx="152400" cy="152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12024360" y="38100"/>
            <a:ext cx="91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&lt;</a:t>
            </a:r>
            <a:endParaRPr lang="en-US" sz="1200" dirty="0"/>
          </a:p>
        </p:txBody>
      </p:sp>
      <p:sp>
        <p:nvSpPr>
          <p:cNvPr id="17" name="Text 1"/>
          <p:cNvSpPr/>
          <p:nvPr/>
        </p:nvSpPr>
        <p:spPr>
          <a:xfrm>
            <a:off x="619125" y="704850"/>
            <a:ext cx="10439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النتائج والتحليل</a:t>
            </a:r>
            <a:endParaRPr lang="en-US" sz="3600" dirty="0"/>
          </a:p>
        </p:txBody>
      </p:sp>
      <p:sp>
        <p:nvSpPr>
          <p:cNvPr id="18" name="Text 2"/>
          <p:cNvSpPr/>
          <p:nvPr/>
        </p:nvSpPr>
        <p:spPr>
          <a:xfrm>
            <a:off x="-1392555" y="1238250"/>
            <a:ext cx="12527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تحويل البيانات الخام إلى رؤى أكاديمية دقيقة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8010525" y="2133600"/>
            <a:ext cx="23431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التشخيص الآلي</a:t>
            </a:r>
            <a:endParaRPr lang="en-US" sz="2250" dirty="0"/>
          </a:p>
        </p:txBody>
      </p:sp>
      <p:sp>
        <p:nvSpPr>
          <p:cNvPr id="20" name="Text 4"/>
          <p:cNvSpPr/>
          <p:nvPr/>
        </p:nvSpPr>
        <p:spPr>
          <a:xfrm>
            <a:off x="6515100" y="2838450"/>
            <a:ext cx="4686300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النظام يتحليل الأنماط السلوكية لتحديد العوائق الحقيقية أمام الطالب.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6926580" y="3838575"/>
            <a:ext cx="37604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تحليل المنطق: "ضعف في التفكير البرمجي"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1558290" y="2133600"/>
            <a:ext cx="32232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دقة وموثوقية البيانات</a:t>
            </a:r>
            <a:endParaRPr lang="en-US" sz="2250" dirty="0"/>
          </a:p>
        </p:txBody>
      </p:sp>
      <p:sp>
        <p:nvSpPr>
          <p:cNvPr id="23" name="Text 7"/>
          <p:cNvSpPr/>
          <p:nvPr/>
        </p:nvSpPr>
        <p:spPr>
          <a:xfrm>
            <a:off x="990600" y="2838450"/>
            <a:ext cx="4686300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بفضل نظام التحقق الفوري، نضمن أن قاعدة البيانات تحتوي فقط على مدخلات منطقية تعكس الواقع الأكاديمي.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3366135" y="3838575"/>
            <a:ext cx="23545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596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0 - 100</a:t>
            </a:r>
            <a:endParaRPr lang="en-US" sz="2250" dirty="0"/>
          </a:p>
        </p:txBody>
      </p:sp>
      <p:sp>
        <p:nvSpPr>
          <p:cNvPr id="25" name="Text 9"/>
          <p:cNvSpPr/>
          <p:nvPr/>
        </p:nvSpPr>
        <p:spPr>
          <a:xfrm>
            <a:off x="3562350" y="4219575"/>
            <a:ext cx="19621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نطاق الدرجات</a:t>
            </a:r>
            <a:endParaRPr lang="en-US" sz="1050" dirty="0"/>
          </a:p>
        </p:txBody>
      </p:sp>
      <p:sp>
        <p:nvSpPr>
          <p:cNvPr id="26" name="Text 10"/>
          <p:cNvSpPr/>
          <p:nvPr/>
        </p:nvSpPr>
        <p:spPr>
          <a:xfrm>
            <a:off x="946785" y="3838575"/>
            <a:ext cx="23545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5966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45 ساعة</a:t>
            </a:r>
            <a:endParaRPr lang="en-US" sz="2250" dirty="0"/>
          </a:p>
        </p:txBody>
      </p:sp>
      <p:sp>
        <p:nvSpPr>
          <p:cNvPr id="27" name="Text 11"/>
          <p:cNvSpPr/>
          <p:nvPr/>
        </p:nvSpPr>
        <p:spPr>
          <a:xfrm>
            <a:off x="946785" y="4219575"/>
            <a:ext cx="23545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64748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الحد الأقصى للمذاكرة</a:t>
            </a:r>
            <a:endParaRPr lang="en-US" sz="1050" dirty="0"/>
          </a:p>
        </p:txBody>
      </p:sp>
      <p:sp>
        <p:nvSpPr>
          <p:cNvPr id="28" name="Text 12"/>
          <p:cNvSpPr/>
          <p:nvPr/>
        </p:nvSpPr>
        <p:spPr>
          <a:xfrm>
            <a:off x="7002780" y="6572250"/>
            <a:ext cx="41033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معالجة البيانات بواسطة نموذج Linear Regression</a:t>
            </a:r>
            <a:endParaRPr lang="en-US" sz="1350" dirty="0"/>
          </a:p>
        </p:txBody>
      </p:sp>
      <p:sp>
        <p:nvSpPr>
          <p:cNvPr id="29" name="Text 13"/>
          <p:cNvSpPr/>
          <p:nvPr/>
        </p:nvSpPr>
        <p:spPr>
          <a:xfrm>
            <a:off x="-701040" y="6572250"/>
            <a:ext cx="14630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Smart Advisor AI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1066800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699" y="2494359"/>
            <a:ext cx="3454301" cy="186213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0925" y="3103959"/>
            <a:ext cx="3238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8850" y="2494359"/>
            <a:ext cx="3454450" cy="186213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5174" y="3103959"/>
            <a:ext cx="3619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149" y="2494359"/>
            <a:ext cx="3454301" cy="186213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6424" y="3103959"/>
            <a:ext cx="285750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4508897"/>
            <a:ext cx="4343400" cy="164544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1025" y="5118497"/>
            <a:ext cx="285750" cy="285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76400" y="4508897"/>
            <a:ext cx="4343400" cy="164544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38563" y="5118497"/>
            <a:ext cx="219075" cy="28575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12024360" y="38100"/>
            <a:ext cx="914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&lt;</a:t>
            </a:r>
            <a:endParaRPr lang="en-US" sz="1200" dirty="0"/>
          </a:p>
        </p:txBody>
      </p:sp>
      <p:sp>
        <p:nvSpPr>
          <p:cNvPr id="15" name="Text 1"/>
          <p:cNvSpPr/>
          <p:nvPr/>
        </p:nvSpPr>
        <p:spPr>
          <a:xfrm>
            <a:off x="381000" y="609600"/>
            <a:ext cx="10668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آلية عمل النظام</a:t>
            </a:r>
            <a:endParaRPr lang="en-US" sz="3600" dirty="0"/>
          </a:p>
        </p:txBody>
      </p:sp>
      <p:sp>
        <p:nvSpPr>
          <p:cNvPr id="16" name="Text 2"/>
          <p:cNvSpPr/>
          <p:nvPr/>
        </p:nvSpPr>
        <p:spPr>
          <a:xfrm>
            <a:off x="-1438275" y="1143000"/>
            <a:ext cx="1280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رحلة البيانات من الإدخال إلى إنتاج التوصيات الذكية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9512350" y="2646759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9005620" y="3465909"/>
            <a:ext cx="1394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إدخال البيانات</a:t>
            </a:r>
            <a:endParaRPr lang="en-US" sz="1500" dirty="0"/>
          </a:p>
        </p:txBody>
      </p:sp>
      <p:sp>
        <p:nvSpPr>
          <p:cNvPr id="19" name="Text 5"/>
          <p:cNvSpPr/>
          <p:nvPr/>
        </p:nvSpPr>
        <p:spPr>
          <a:xfrm>
            <a:off x="8128099" y="3770709"/>
            <a:ext cx="3149501" cy="4333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706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استقبال درجات الرياضيات، قواعد البيانات، وساعات المذاكرة.</a:t>
            </a:r>
            <a:endParaRPr lang="en-US" sz="1050" dirty="0"/>
          </a:p>
        </p:txBody>
      </p:sp>
      <p:sp>
        <p:nvSpPr>
          <p:cNvPr id="20" name="Text 6"/>
          <p:cNvSpPr/>
          <p:nvPr/>
        </p:nvSpPr>
        <p:spPr>
          <a:xfrm>
            <a:off x="5905649" y="2646759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5216039" y="3465909"/>
            <a:ext cx="1760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التحقق من القيود</a:t>
            </a:r>
            <a:endParaRPr lang="en-US" sz="1500" dirty="0"/>
          </a:p>
        </p:txBody>
      </p:sp>
      <p:sp>
        <p:nvSpPr>
          <p:cNvPr id="22" name="Text 8"/>
          <p:cNvSpPr/>
          <p:nvPr/>
        </p:nvSpPr>
        <p:spPr>
          <a:xfrm>
            <a:off x="4513094" y="3770709"/>
            <a:ext cx="3166110" cy="2166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706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تفعيل نظام حماية يمنع إدخال بيانات غير منطقية.</a:t>
            </a:r>
            <a:endParaRPr lang="en-US" sz="1050" dirty="0"/>
          </a:p>
        </p:txBody>
      </p:sp>
      <p:sp>
        <p:nvSpPr>
          <p:cNvPr id="23" name="Text 9"/>
          <p:cNvSpPr/>
          <p:nvPr/>
        </p:nvSpPr>
        <p:spPr>
          <a:xfrm>
            <a:off x="2298799" y="2646759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1289149" y="3465909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التطبيع (Normalization)</a:t>
            </a:r>
            <a:endParaRPr lang="en-US" sz="1500" dirty="0"/>
          </a:p>
        </p:txBody>
      </p:sp>
      <p:sp>
        <p:nvSpPr>
          <p:cNvPr id="25" name="Text 11"/>
          <p:cNvSpPr/>
          <p:nvPr/>
        </p:nvSpPr>
        <p:spPr>
          <a:xfrm>
            <a:off x="791944" y="3770709"/>
            <a:ext cx="3394710" cy="2166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706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تحويل المدخلات إلى قيم (0-1) لتناسب تدريب النموذج.</a:t>
            </a:r>
            <a:endParaRPr lang="en-US" sz="1050" dirty="0"/>
          </a:p>
        </p:txBody>
      </p:sp>
      <p:sp>
        <p:nvSpPr>
          <p:cNvPr id="26" name="Text 12"/>
          <p:cNvSpPr/>
          <p:nvPr/>
        </p:nvSpPr>
        <p:spPr>
          <a:xfrm>
            <a:off x="8153400" y="4661297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13"/>
          <p:cNvSpPr/>
          <p:nvPr/>
        </p:nvSpPr>
        <p:spPr>
          <a:xfrm>
            <a:off x="7532370" y="5480447"/>
            <a:ext cx="1623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المعالجة والتنبؤ</a:t>
            </a:r>
            <a:endParaRPr lang="en-US" sz="1500" dirty="0"/>
          </a:p>
        </p:txBody>
      </p:sp>
      <p:sp>
        <p:nvSpPr>
          <p:cNvPr id="28" name="Text 14"/>
          <p:cNvSpPr/>
          <p:nvPr/>
        </p:nvSpPr>
        <p:spPr>
          <a:xfrm>
            <a:off x="6423660" y="5785247"/>
            <a:ext cx="3840480" cy="2166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706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خوارزمية Linear Regression لحساب الدرجة المتوقعة.</a:t>
            </a:r>
            <a:endParaRPr lang="en-US" sz="1050" dirty="0"/>
          </a:p>
        </p:txBody>
      </p:sp>
      <p:sp>
        <p:nvSpPr>
          <p:cNvPr id="29" name="Text 15"/>
          <p:cNvSpPr/>
          <p:nvPr/>
        </p:nvSpPr>
        <p:spPr>
          <a:xfrm>
            <a:off x="3657600" y="4661297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16"/>
          <p:cNvSpPr/>
          <p:nvPr/>
        </p:nvSpPr>
        <p:spPr>
          <a:xfrm>
            <a:off x="3099435" y="5480447"/>
            <a:ext cx="14973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إنتاج التوصيات</a:t>
            </a:r>
            <a:endParaRPr lang="en-US" sz="1500" dirty="0"/>
          </a:p>
        </p:txBody>
      </p:sp>
      <p:sp>
        <p:nvSpPr>
          <p:cNvPr id="31" name="Text 17"/>
          <p:cNvSpPr/>
          <p:nvPr/>
        </p:nvSpPr>
        <p:spPr>
          <a:xfrm>
            <a:off x="2350770" y="5785247"/>
            <a:ext cx="2994660" cy="2166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1706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تحليل النتائج وتقديم نصيحة أكاديمية مخصصة.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76250"/>
            <a:ext cx="1066800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450" y="1581150"/>
            <a:ext cx="3403550" cy="1981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1599" y="1771650"/>
            <a:ext cx="5334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3999" y="18859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4299" y="1581150"/>
            <a:ext cx="3403550" cy="1981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9449" y="1771650"/>
            <a:ext cx="53340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1581150"/>
            <a:ext cx="3403699" cy="1981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7150" y="1771650"/>
            <a:ext cx="533400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49550" y="188595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790950"/>
            <a:ext cx="10668000" cy="1485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10900" y="405765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29950" y="4486275"/>
            <a:ext cx="171450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34050" y="4486275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29950" y="4829175"/>
            <a:ext cx="17145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34050" y="4829175"/>
            <a:ext cx="17145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5924550"/>
            <a:ext cx="10668000" cy="4572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-1600200" y="476250"/>
            <a:ext cx="1280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التقييم وقياس الأداء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-1310640" y="1047750"/>
            <a:ext cx="12435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معايير تقييم دقة النموذج وفعالية النصائح المقدمة للطلاب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9162514" y="2457450"/>
            <a:ext cx="11315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دقة التنبؤ</a:t>
            </a:r>
            <a:endParaRPr lang="en-US" sz="1800" dirty="0"/>
          </a:p>
        </p:txBody>
      </p:sp>
      <p:sp>
        <p:nvSpPr>
          <p:cNvPr id="22" name="Text 3"/>
          <p:cNvSpPr/>
          <p:nvPr/>
        </p:nvSpPr>
        <p:spPr>
          <a:xfrm>
            <a:off x="8216950" y="2838450"/>
            <a:ext cx="3022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يعتمد التقييم على أوزان دقيقة تم تعلمها لضمان تقليل نسبة الخطأ.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5210324" y="2457450"/>
            <a:ext cx="17716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البيانات</a:t>
            </a:r>
            <a:endParaRPr lang="en-US" sz="1800" dirty="0"/>
          </a:p>
        </p:txBody>
      </p:sp>
      <p:sp>
        <p:nvSpPr>
          <p:cNvPr id="24" name="Text 5"/>
          <p:cNvSpPr/>
          <p:nvPr/>
        </p:nvSpPr>
        <p:spPr>
          <a:xfrm>
            <a:off x="4584799" y="2838450"/>
            <a:ext cx="30225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الـ Validation يضمن دقة المدخلات مما يحمي النموذج.</a:t>
            </a:r>
            <a:endParaRPr lang="en-US" sz="1350" dirty="0"/>
          </a:p>
        </p:txBody>
      </p:sp>
      <p:sp>
        <p:nvSpPr>
          <p:cNvPr id="25" name="Text 6"/>
          <p:cNvSpPr/>
          <p:nvPr/>
        </p:nvSpPr>
        <p:spPr>
          <a:xfrm>
            <a:off x="1515160" y="2457450"/>
            <a:ext cx="18973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جودة التشخيص</a:t>
            </a:r>
            <a:endParaRPr lang="en-US" sz="1800" dirty="0"/>
          </a:p>
        </p:txBody>
      </p:sp>
      <p:sp>
        <p:nvSpPr>
          <p:cNvPr id="26" name="Text 7"/>
          <p:cNvSpPr/>
          <p:nvPr/>
        </p:nvSpPr>
        <p:spPr>
          <a:xfrm>
            <a:off x="952500" y="2838450"/>
            <a:ext cx="302269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فعالية النصيحة تقاس بقدرة النظام على تحديد نوع الضعف.</a:t>
            </a:r>
            <a:endParaRPr lang="en-US" sz="1350" dirty="0"/>
          </a:p>
        </p:txBody>
      </p:sp>
      <p:sp>
        <p:nvSpPr>
          <p:cNvPr id="27" name="Text 8"/>
          <p:cNvSpPr/>
          <p:nvPr/>
        </p:nvSpPr>
        <p:spPr>
          <a:xfrm>
            <a:off x="685800" y="4019550"/>
            <a:ext cx="10210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النجاح التشغيلية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6421755" y="4438650"/>
            <a:ext cx="43319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سرعة معالجة البيانات والاستخراج في أجزاء من الثانية.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2175510" y="4438650"/>
            <a:ext cx="34061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التطبيع الناجح لكافة أنواع المدخلات (0-1).</a:t>
            </a:r>
            <a:endParaRPr lang="en-US" sz="1350" dirty="0"/>
          </a:p>
        </p:txBody>
      </p:sp>
      <p:sp>
        <p:nvSpPr>
          <p:cNvPr id="30" name="Text 11"/>
          <p:cNvSpPr/>
          <p:nvPr/>
        </p:nvSpPr>
        <p:spPr>
          <a:xfrm>
            <a:off x="6958965" y="4781550"/>
            <a:ext cx="39090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تكامل قاعدة البيانات SQLite في حفظ السجلات.</a:t>
            </a:r>
            <a:endParaRPr lang="en-US" sz="1350" dirty="0"/>
          </a:p>
        </p:txBody>
      </p:sp>
      <p:sp>
        <p:nvSpPr>
          <p:cNvPr id="31" name="Text 12"/>
          <p:cNvSpPr/>
          <p:nvPr/>
        </p:nvSpPr>
        <p:spPr>
          <a:xfrm>
            <a:off x="1840230" y="4781550"/>
            <a:ext cx="3703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دقة تصنيف الطلاب بناءً على التفكير المنطقي.</a:t>
            </a:r>
            <a:endParaRPr lang="en-US" sz="1350" dirty="0"/>
          </a:p>
        </p:txBody>
      </p:sp>
      <p:sp>
        <p:nvSpPr>
          <p:cNvPr id="32" name="Text 13"/>
          <p:cNvSpPr/>
          <p:nvPr/>
        </p:nvSpPr>
        <p:spPr>
          <a:xfrm>
            <a:off x="7541895" y="6153150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المستشار الأكاديمي الذكي (Smart Advisor AI)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415290" y="6153150"/>
            <a:ext cx="18516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800"/>
              </a:lnSpc>
              <a:buNone/>
            </a:pPr>
            <a:r>
              <a:rPr lang="en-US" sz="1200" dirty="0">
                <a:solidFill>
                  <a:srgbClr val="10B981">
                    <a:alpha val="50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التقييم والتحليل المستمر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71500"/>
            <a:ext cx="1066800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790700"/>
            <a:ext cx="3352800" cy="246221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205740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150" y="2247900"/>
            <a:ext cx="3429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9600" y="1790700"/>
            <a:ext cx="3352800" cy="246221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2057400"/>
            <a:ext cx="7620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0738" y="2247900"/>
            <a:ext cx="39052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1790700"/>
            <a:ext cx="3352800" cy="246221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7400" y="2057400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66950" y="2247900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5257800"/>
            <a:ext cx="10668000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" y="5600700"/>
            <a:ext cx="1162050" cy="3429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-1752600" y="571500"/>
            <a:ext cx="1280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الخاتمة والتطلعات المستقبلية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676275" y="1181100"/>
            <a:ext cx="10668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80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رؤية تطويرية نحو نظام متكامل ومستدام</a:t>
            </a:r>
            <a:endParaRPr lang="en-US" sz="1800" dirty="0"/>
          </a:p>
        </p:txBody>
      </p:sp>
      <p:sp>
        <p:nvSpPr>
          <p:cNvPr id="17" name="Text 2"/>
          <p:cNvSpPr/>
          <p:nvPr/>
        </p:nvSpPr>
        <p:spPr>
          <a:xfrm>
            <a:off x="9124950" y="3009900"/>
            <a:ext cx="12573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تقارير ذكية</a:t>
            </a:r>
            <a:endParaRPr lang="en-US" sz="1800" dirty="0"/>
          </a:p>
        </p:txBody>
      </p:sp>
      <p:sp>
        <p:nvSpPr>
          <p:cNvPr id="18" name="Text 3"/>
          <p:cNvSpPr/>
          <p:nvPr/>
        </p:nvSpPr>
        <p:spPr>
          <a:xfrm>
            <a:off x="8343900" y="3429000"/>
            <a:ext cx="281940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تقارير PDF تلقائية للطالب تتضمن تحليلاً مفصلاً لمستواه.</a:t>
            </a:r>
            <a:endParaRPr lang="en-US" sz="1350" dirty="0"/>
          </a:p>
        </p:txBody>
      </p:sp>
      <p:sp>
        <p:nvSpPr>
          <p:cNvPr id="19" name="Text 4"/>
          <p:cNvSpPr/>
          <p:nvPr/>
        </p:nvSpPr>
        <p:spPr>
          <a:xfrm>
            <a:off x="5124450" y="3009900"/>
            <a:ext cx="19431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لوحة تحكم إدارية</a:t>
            </a:r>
            <a:endParaRPr lang="en-US" sz="1800" dirty="0"/>
          </a:p>
        </p:txBody>
      </p:sp>
      <p:sp>
        <p:nvSpPr>
          <p:cNvPr id="20" name="Text 5"/>
          <p:cNvSpPr/>
          <p:nvPr/>
        </p:nvSpPr>
        <p:spPr>
          <a:xfrm>
            <a:off x="4686300" y="3429000"/>
            <a:ext cx="281940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ربط النظام بـ Dashboard تفاعلية لراقبة أداء الدفعات.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1592580" y="3009900"/>
            <a:ext cx="16916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التعلم العميق</a:t>
            </a:r>
            <a:endParaRPr lang="en-US" sz="1800" dirty="0"/>
          </a:p>
        </p:txBody>
      </p:sp>
      <p:sp>
        <p:nvSpPr>
          <p:cNvPr id="22" name="Text 7"/>
          <p:cNvSpPr/>
          <p:nvPr/>
        </p:nvSpPr>
        <p:spPr>
          <a:xfrm>
            <a:off x="1028700" y="3429000"/>
            <a:ext cx="281940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 rtl="1">
              <a:lnSpc>
                <a:spcPts val="2194"/>
              </a:lnSpc>
              <a:buNone/>
            </a:pPr>
            <a:r>
              <a:rPr lang="en-US" sz="1350" dirty="0">
                <a:solidFill>
                  <a:srgbClr val="A3A3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نماذج Deep Learning لزيادة دقة التنبؤ.</a:t>
            </a:r>
            <a:endParaRPr lang="en-US" sz="1350" dirty="0"/>
          </a:p>
        </p:txBody>
      </p:sp>
      <p:sp>
        <p:nvSpPr>
          <p:cNvPr id="23" name="Text 8"/>
          <p:cNvSpPr/>
          <p:nvPr/>
        </p:nvSpPr>
        <p:spPr>
          <a:xfrm>
            <a:off x="6238875" y="5486400"/>
            <a:ext cx="49053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الخلاصة:</a:t>
            </a:r>
            <a:endParaRPr lang="en-US" sz="1500" dirty="0"/>
          </a:p>
        </p:txBody>
      </p:sp>
      <p:sp>
        <p:nvSpPr>
          <p:cNvPr id="24" name="Text 9"/>
          <p:cNvSpPr/>
          <p:nvPr/>
        </p:nvSpPr>
        <p:spPr>
          <a:xfrm>
            <a:off x="5314950" y="5791200"/>
            <a:ext cx="5886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Smart Advisor AI هو الخطوة الأولى نحو بيئة تعليمية ذكية.</a:t>
            </a:r>
            <a:endParaRPr lang="en-US" sz="1500" dirty="0"/>
          </a:p>
        </p:txBody>
      </p:sp>
      <p:sp>
        <p:nvSpPr>
          <p:cNvPr id="25" name="Text 10"/>
          <p:cNvSpPr/>
          <p:nvPr/>
        </p:nvSpPr>
        <p:spPr>
          <a:xfrm>
            <a:off x="491490" y="5600700"/>
            <a:ext cx="13944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 rtl="1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نهاية العرض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803</Words>
  <Application>Microsoft Office PowerPoint</Application>
  <PresentationFormat>شاشة عريضة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5" baseType="lpstr">
      <vt:lpstr>Arial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ALBARA FAHED</cp:lastModifiedBy>
  <cp:revision>2</cp:revision>
  <dcterms:created xsi:type="dcterms:W3CDTF">2026-01-31T15:15:44Z</dcterms:created>
  <dcterms:modified xsi:type="dcterms:W3CDTF">2026-01-31T15:19:59Z</dcterms:modified>
</cp:coreProperties>
</file>